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Calibri"/>
              </a:rPr>
              <a:t>MULTI-CLOUD CSPM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600" b="1">
                <a:solidFill>
                  <a:srgbClr val="10141A"/>
                </a:solidFill>
                <a:latin typeface="Calibri"/>
              </a:rPr>
              <a:t>Unified Cloud Security</a:t>
            </a:r>
          </a:p>
          <a:p>
            <a:pPr algn="l"/>
            <a:r>
              <a:rPr sz="4600" b="1">
                <a:solidFill>
                  <a:srgbClr val="10141A"/>
                </a:solidFill>
                <a:latin typeface="Calibri"/>
              </a:rPr>
              <a:t>in One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94760"/>
            <a:ext cx="1097280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AWS · Azure · GCP  —  Scan, detect, comply, remediate.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0141A"/>
                </a:solidFill>
                <a:latin typeface="Calibri"/>
              </a:rPr>
              <a:t>Platform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  <a:latin typeface="Calibri"/>
              </a:rPr>
              <a:t>What you get out of the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914400" cy="365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2378" y="2333896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02378" y="2333896"/>
            <a:ext cx="178308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2378" y="2516776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200" b="1">
                <a:solidFill>
                  <a:srgbClr val="1D4ED8"/>
                </a:solidFill>
                <a:latin typeface="Calibri"/>
              </a:rPr>
              <a:t>70+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2378" y="3202576"/>
            <a:ext cx="1783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Cloud Scanners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5186" y="2333896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95186" y="2333896"/>
            <a:ext cx="178308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5186" y="2516776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200" b="1">
                <a:solidFill>
                  <a:srgbClr val="1D4ED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5186" y="3202576"/>
            <a:ext cx="1783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Cloud Providers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9338" y="2333896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19338" y="2333896"/>
            <a:ext cx="178308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9338" y="2516776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200" b="1">
                <a:solidFill>
                  <a:srgbClr val="1D4ED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9338" y="3202576"/>
            <a:ext cx="1783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Compliance Frameworks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2146" y="2333896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2146" y="2333896"/>
            <a:ext cx="178308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2146" y="2516776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200" b="1">
                <a:solidFill>
                  <a:srgbClr val="1D4ED8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2146" y="3202576"/>
            <a:ext cx="1783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Async Workers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04954" y="2333896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04954" y="2333896"/>
            <a:ext cx="178308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04954" y="2516776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200" b="1">
                <a:solidFill>
                  <a:srgbClr val="1D4ED8"/>
                </a:solidFill>
                <a:latin typeface="Calibri"/>
              </a:rPr>
              <a:t>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4954" y="3202576"/>
            <a:ext cx="17830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Data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934096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3934096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4025536"/>
            <a:ext cx="256032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dirty="0">
                <a:solidFill>
                  <a:srgbClr val="10141A"/>
                </a:solidFill>
                <a:latin typeface="Calibri"/>
              </a:rPr>
              <a:t>Multi-Cloud, One </a:t>
            </a:r>
            <a:r>
              <a:rPr lang="en-IN" sz="1300" b="1" dirty="0">
                <a:solidFill>
                  <a:srgbClr val="10141A"/>
                </a:solidFill>
                <a:latin typeface="Calibri"/>
              </a:rPr>
              <a:t>Platform</a:t>
            </a:r>
            <a:endParaRPr sz="1300" b="1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00" y="4391296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AWS · Azure · GCP scanners share one engine, schema, dashboard.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3934096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01568" y="3934096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84448" y="4025536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0141A"/>
                </a:solidFill>
                <a:latin typeface="Calibri"/>
              </a:rPr>
              <a:t>Detect → Decide → 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4391296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Findings flow into anomaly, approvals, auto-remediation.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0216" y="3934096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00216" y="3934096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83096" y="4025536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0141A"/>
                </a:solidFill>
                <a:latin typeface="Calibri"/>
              </a:rPr>
              <a:t>Compliance Built-in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3096" y="4391296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PCI · SOC2 · ISO · HIPAA · CIS · GDPR — mapped automatically.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98864" y="3934096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98864" y="3934096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81744" y="4025536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0141A"/>
                </a:solidFill>
                <a:latin typeface="Calibri"/>
              </a:rPr>
              <a:t>Self-Hosted by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81744" y="4391296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Postgres + Redis. Runs on one VM. Your data stays yours.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↑ Dashboard — posture score, finding counts, 30-day trend across all clouds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0141A"/>
                </a:solidFill>
                <a:latin typeface="Calibri"/>
              </a:rPr>
              <a:t>Cloud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  <a:latin typeface="Calibri"/>
              </a:rPr>
              <a:t>70+ purpose-built scanners across AWS, Azure &amp; GCP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914400" cy="365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3749039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3749039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344168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37360"/>
            <a:ext cx="3749039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25+ scanners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CloudTrail · IAM · S3 · EC2 · 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KMS · Secrets Manager · CloudWatch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54096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VPC · Lambda · ECR · EBS · ELB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38144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DynamoDB · ElastiCache · ACM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22192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SNS · SQS · Redshift · ECS · WAF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CloudFront · API Gateway · SSM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9028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Threat Detection (GuardDuty-eq)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1234440"/>
            <a:ext cx="3749039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59" y="1234440"/>
            <a:ext cx="3749039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59" y="1344168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1737360"/>
            <a:ext cx="3749039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32 scanners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228600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Entra ID · IAM · Key Vault · NSG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267004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Storage · Cosmos · SQL · Postgres · 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3054096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VM · AKS · ACR · App Service ·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3438144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Container Apps · App Gateway · APIM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3822192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Service Bus · Event Hub · Event Grid · IoT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420624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Cognitive · AML · ADF · Synapse ·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39" y="459028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Log Analytics · Backup · Automation · Threat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38" y="1234440"/>
            <a:ext cx="3749039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92438" y="1234440"/>
            <a:ext cx="3749039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38" y="1344168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GCP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38" y="1737360"/>
            <a:ext cx="3749039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13 scanners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8" y="228600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IAM · KMS · Secret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8" y="267004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Storage · BigQuery · Cloud 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8" y="3054096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Compute Engine · GKE · Cloud 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8" y="3438144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Cloud Functions · Pub/Sub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8" y="3822192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Artifact Registry · Cloud Logging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8" y="434340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Anomaly worker + CIS GCP benchmark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0141A"/>
                </a:solidFill>
                <a:latin typeface="Calibri"/>
              </a:rPr>
              <a:t>Threat Detection — GuardDuty Without the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  <a:latin typeface="Calibri"/>
              </a:rPr>
              <a:t>Active threats from CloudTrail · IAM · resource APIs — no add-on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914400" cy="365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5029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Defense Evasion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99616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CloudTrail off · Config recorder stopped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783080"/>
            <a:ext cx="5029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1783080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847088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Unauthorized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48256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Root API · login no-MFA · brute force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331720"/>
            <a:ext cx="5029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331720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596896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New admin · new keys · cross-account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880360"/>
            <a:ext cx="5029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2880360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944368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Privilege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45536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iam:* attached · admin role assumed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429000"/>
            <a:ext cx="5029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3429000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493008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Reconnaissance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94176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IAM enum · mass Describe/List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977640"/>
            <a:ext cx="5029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" y="3977640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041648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Data Exfiltration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42816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Mass S3 delete · snapshot made public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1234440"/>
            <a:ext cx="61722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05856" y="1271016"/>
            <a:ext cx="6099048" cy="29260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779008" y="1344168"/>
            <a:ext cx="109728" cy="109728"/>
          </a:xfrm>
          <a:prstGeom prst="ellipse">
            <a:avLst/>
          </a:prstGeom>
          <a:solidFill>
            <a:srgbClr val="EF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43600" y="134416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108192" y="13441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46520" y="1307592"/>
            <a:ext cx="52578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1325880"/>
            <a:ext cx="5074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cspm.local/threats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3872" y="16459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Threat Detection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3872" y="1965960"/>
            <a:ext cx="1280160" cy="41148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33872" y="2002536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3872" y="2194560"/>
            <a:ext cx="12801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59752" y="1965960"/>
            <a:ext cx="1280160" cy="4114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59752" y="2002536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9752" y="2194560"/>
            <a:ext cx="12801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85632" y="1965960"/>
            <a:ext cx="1280160" cy="411480"/>
          </a:xfrm>
          <a:prstGeom prst="roundRect">
            <a:avLst>
              <a:gd name="adj" fmla="val 1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85632" y="2002536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2194560"/>
            <a:ext cx="12801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33872" y="251460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833872" y="254203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56832" y="251460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56832" y="254203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1F2937"/>
                </a:solidFill>
                <a:latin typeface="Calibri"/>
              </a:rPr>
              <a:t>Persistence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79792" y="251460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79792" y="254203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1F2937"/>
                </a:solidFill>
                <a:latin typeface="Calibri"/>
              </a:rPr>
              <a:t>Recon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02752" y="251460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02752" y="254203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1F2937"/>
                </a:solidFill>
                <a:latin typeface="Calibri"/>
              </a:rPr>
              <a:t>Exfil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25712" y="251460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25712" y="254203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1F2937"/>
                </a:solidFill>
                <a:latin typeface="Calibri"/>
              </a:rPr>
              <a:t>Priv Esc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8672" y="251460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48672" y="254203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1F2937"/>
                </a:solidFill>
                <a:latin typeface="Calibri"/>
              </a:rPr>
              <a:t>Defense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33872" y="288036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833872" y="2880360"/>
            <a:ext cx="54864" cy="34747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943600" y="295351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0" y="298094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295351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10141A"/>
                </a:solidFill>
                <a:latin typeface="Calibri"/>
              </a:rPr>
              <a:t>Root Account API Activity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295351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D4ED8"/>
                </a:solidFill>
                <a:latin typeface="Calibri"/>
              </a:rPr>
              <a:t>AWS::Root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295351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10:42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833872" y="329184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833872" y="3291840"/>
            <a:ext cx="54864" cy="34747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5943600" y="336499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43600" y="339242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336499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10141A"/>
                </a:solidFill>
                <a:latin typeface="Calibri"/>
              </a:rPr>
              <a:t>Mass S3 Object Deletion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0" y="336499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D4ED8"/>
                </a:solidFill>
                <a:latin typeface="Calibri"/>
              </a:rPr>
              <a:t>iam::svc-backup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336499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09:18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33872" y="370332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833872" y="3703320"/>
            <a:ext cx="54864" cy="3474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5943600" y="377647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0" y="380390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0" y="377647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10141A"/>
                </a:solidFill>
                <a:latin typeface="Calibri"/>
              </a:rPr>
              <a:t>New IAM Admin User Created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0" y="377647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D4ED8"/>
                </a:solidFill>
                <a:latin typeface="Calibri"/>
              </a:rPr>
              <a:t>iam::ops-deploy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0" y="377647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08:55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833872" y="411480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833872" y="4114800"/>
            <a:ext cx="54864" cy="3474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943600" y="418795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43600" y="421538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0" y="418795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10141A"/>
                </a:solidFill>
                <a:latin typeface="Calibri"/>
              </a:rPr>
              <a:t>Console Login Without MFA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0" y="418795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D4ED8"/>
                </a:solidFill>
                <a:latin typeface="Calibri"/>
              </a:rPr>
              <a:t>iam::dev-jane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15600" y="418795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07:30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833872" y="452628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833872" y="4526280"/>
            <a:ext cx="54864" cy="34747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5943600" y="459943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943600" y="462686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83680" y="459943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10141A"/>
                </a:solidFill>
                <a:latin typeface="Calibri"/>
              </a:rPr>
              <a:t>IAM Enumeration Detected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52560" y="459943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D4ED8"/>
                </a:solidFill>
                <a:latin typeface="Calibri"/>
              </a:rPr>
              <a:t>role::recon-bot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600" y="45994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06:11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69280" y="5897880"/>
            <a:ext cx="6172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↑ /threats page — severity tally, category tabs, actor &amp; timestamp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11480" y="4526280"/>
            <a:ext cx="5074920" cy="640080"/>
          </a:xfrm>
          <a:prstGeom prst="roundRect">
            <a:avLst>
              <a:gd name="adj" fmla="val 10000"/>
            </a:avLst>
          </a:prstGeom>
          <a:solidFill>
            <a:srgbClr val="E8EFFC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48640" y="4572000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142A6B"/>
                </a:solidFill>
                <a:latin typeface="Calibri"/>
              </a:rPr>
              <a:t>How it works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480060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Calibri"/>
              </a:rPr>
              <a:t>Targeted CloudTrail LookupEvents · rate-limited 2 rps · severity-windowed (24h/7d) · per-account 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0141A"/>
                </a:solidFill>
                <a:latin typeface="Calibri"/>
              </a:rPr>
              <a:t>Compliance — PCI · SOC 2 · ISO 27001 · HIPAA · CIS · GDPR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  <a:latin typeface="Calibri"/>
              </a:rPr>
              <a:t>Continuous score · evidence-backed · auditor-ready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914400" cy="365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24688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2468880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8930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PCI-DSS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2468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Card-holder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234440"/>
            <a:ext cx="24688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71800" y="1234440"/>
            <a:ext cx="2468880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128930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SOC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691640"/>
            <a:ext cx="2468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Trust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86000"/>
            <a:ext cx="24688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286000"/>
            <a:ext cx="2468880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34086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ISO 27001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743200"/>
            <a:ext cx="2468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ISMS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2286000"/>
            <a:ext cx="24688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71800" y="2286000"/>
            <a:ext cx="2468880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234086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HIPAA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743200"/>
            <a:ext cx="2468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Health info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37560"/>
            <a:ext cx="24688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3337560"/>
            <a:ext cx="2468880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339242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794760"/>
            <a:ext cx="2468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Cloud benchmark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71800" y="3337560"/>
            <a:ext cx="24688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971800" y="3337560"/>
            <a:ext cx="2468880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71800" y="339242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GDPR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3794760"/>
            <a:ext cx="2468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EU data privacy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1234440"/>
            <a:ext cx="5989320" cy="3337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88736" y="1271016"/>
            <a:ext cx="5916168" cy="29260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61888" y="1344168"/>
            <a:ext cx="109728" cy="109728"/>
          </a:xfrm>
          <a:prstGeom prst="ellipse">
            <a:avLst/>
          </a:prstGeom>
          <a:solidFill>
            <a:srgbClr val="EF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126480" y="134416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291072" y="13441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629400" y="1307592"/>
            <a:ext cx="507492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0840" y="1325880"/>
            <a:ext cx="48920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cspm.local/compliance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16459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Compliance Score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16752" y="201168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126480" y="2176272"/>
            <a:ext cx="685800" cy="685800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199632" y="224942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239572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Calibri"/>
              </a:rPr>
              <a:t>78%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85432" y="221284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10141A"/>
                </a:solidFill>
                <a:latin typeface="Calibri"/>
              </a:rPr>
              <a:t>PCI-DSS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85432" y="254203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885432" y="2542032"/>
            <a:ext cx="630021" cy="109728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85432" y="269748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606B7B"/>
                </a:solidFill>
                <a:latin typeface="Calibri"/>
              </a:rPr>
              <a:t>78 of 100 controls passing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76032" y="201168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985760" y="2176272"/>
            <a:ext cx="685800" cy="685800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058912" y="224942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85760" y="239572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92%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44712" y="221284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10141A"/>
                </a:solidFill>
                <a:latin typeface="Calibri"/>
              </a:rPr>
              <a:t>SOC 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44712" y="254203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744712" y="2542032"/>
            <a:ext cx="743102" cy="109728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44712" y="269748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606B7B"/>
                </a:solidFill>
                <a:latin typeface="Calibri"/>
              </a:rPr>
              <a:t>92 of 100 controls passing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35312" y="201168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845040" y="2176272"/>
            <a:ext cx="685800" cy="685800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918192" y="224942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45040" y="239572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Calibri"/>
              </a:rPr>
              <a:t>85%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3992" y="221284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10141A"/>
                </a:solidFill>
                <a:latin typeface="Calibri"/>
              </a:rPr>
              <a:t>ISO 27001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03992" y="254203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603992" y="2542032"/>
            <a:ext cx="686562" cy="109728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03992" y="269748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606B7B"/>
                </a:solidFill>
                <a:latin typeface="Calibri"/>
              </a:rPr>
              <a:t>85 of 100 controls passing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16752" y="306324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126480" y="3227832"/>
            <a:ext cx="685800" cy="685800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199632" y="330098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26480" y="344728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Calibri"/>
              </a:rPr>
              <a:t>71%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85432" y="326440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10141A"/>
                </a:solidFill>
                <a:latin typeface="Calibri"/>
              </a:rPr>
              <a:t>HIPAA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85432" y="359359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6885432" y="3593592"/>
            <a:ext cx="573481" cy="109728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885432" y="374904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606B7B"/>
                </a:solidFill>
                <a:latin typeface="Calibri"/>
              </a:rPr>
              <a:t>71 of 100 controls passing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76032" y="306324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985760" y="3227832"/>
            <a:ext cx="685800" cy="685800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058912" y="330098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985760" y="344728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88%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44712" y="326440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10141A"/>
                </a:solidFill>
                <a:latin typeface="Calibri"/>
              </a:rPr>
              <a:t>CIS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44712" y="359359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744712" y="3593592"/>
            <a:ext cx="710793" cy="109728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744712" y="374904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606B7B"/>
                </a:solidFill>
                <a:latin typeface="Calibri"/>
              </a:rPr>
              <a:t>88 of 100 controls passing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735312" y="306324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845040" y="3227832"/>
            <a:ext cx="685800" cy="685800"/>
          </a:xfrm>
          <a:prstGeom prst="ellipse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918192" y="330098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845040" y="344728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Calibri"/>
              </a:rPr>
              <a:t>82%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03992" y="326440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10141A"/>
                </a:solidFill>
                <a:latin typeface="Calibri"/>
              </a:rPr>
              <a:t>GDPR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603992" y="359359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10603992" y="3593592"/>
            <a:ext cx="662330" cy="109728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603992" y="374904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606B7B"/>
                </a:solidFill>
                <a:latin typeface="Calibri"/>
              </a:rPr>
              <a:t>82 of 100 controls passing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60" y="4663440"/>
            <a:ext cx="5989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↑ /compliance — live score per framework, drill into failing controls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11480" y="5029200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11480" y="5029200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4360" y="5138928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Posture Score Engine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5486400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Weighted scoring, trend history, per-account.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310128" y="5029200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3310128" y="5029200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493008" y="5138928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Evidence Collected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5486400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Every finding emits an evidence record (90-day TTL).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208776" y="5029200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208776" y="5029200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391656" y="5138928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Control Mapping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91656" y="5486400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Each finding linked to one or more controls.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07424" y="5029200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107424" y="5029200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290304" y="5138928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Exportable Reports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90304" y="5486400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Per-framework PDF / HTML / CSV 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10141A"/>
                </a:solidFill>
                <a:latin typeface="Calibri"/>
              </a:rPr>
              <a:t>Drift, Baselines &amp; Config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  <a:latin typeface="Calibri"/>
              </a:rPr>
              <a:t>Know exactly what changed, by whom, against which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914400" cy="365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3749039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374903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Configuration 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Capture known-good state per cloud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Versioned snapshots (BaselineVersion model)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Per-resource fingerprint diffing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Compare any two versions side-by-side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234440"/>
            <a:ext cx="3749039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59" y="123444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1325880"/>
            <a:ext cx="374903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Config Change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182880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Streaming detection of resource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219456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Classified: security-impact vs cosmetic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256032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Who-what-when retained per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292608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Replayable timeline per resource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38" y="1234440"/>
            <a:ext cx="3749039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38" y="123444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92438" y="1325880"/>
            <a:ext cx="374903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Freeze 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8" y="182880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Block remediation in release windows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8" y="219456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Per-account / per-cloud /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8" y="256032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Audit trail of who declared the freeze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8" y="292608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Live banner in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749039"/>
            <a:ext cx="114300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8056" y="3785615"/>
            <a:ext cx="11356848" cy="29260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21208" y="3858767"/>
            <a:ext cx="109728" cy="109728"/>
          </a:xfrm>
          <a:prstGeom prst="ellipse">
            <a:avLst/>
          </a:prstGeom>
          <a:solidFill>
            <a:srgbClr val="EF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85800" y="3858767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0392" y="3858767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188720" y="3822191"/>
            <a:ext cx="105156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0160" y="3840479"/>
            <a:ext cx="103327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cspm.local/baselines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4160519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Baseline Drift — v1.4 vs current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" y="4526279"/>
            <a:ext cx="548640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6072" y="4526279"/>
            <a:ext cx="5486400" cy="274320"/>
          </a:xfrm>
          <a:prstGeom prst="rect">
            <a:avLst/>
          </a:prstGeom>
          <a:solidFill>
            <a:srgbClr val="14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" y="4571999"/>
            <a:ext cx="5486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Baseline v1.4 (snapshot 2026-04-01)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0488" y="4526279"/>
            <a:ext cx="548640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90488" y="4526279"/>
            <a:ext cx="5486400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90488" y="4571999"/>
            <a:ext cx="5486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Current (2026-05-13) — 7 drifts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" y="4837175"/>
            <a:ext cx="5486400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90488" y="4837175"/>
            <a:ext cx="5486400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87375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S3 bucket policy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020055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alibri"/>
              </a:rPr>
              <a:t>Block public ACL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4496" y="487375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S3 bucket policy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5020055"/>
            <a:ext cx="73152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73368" y="5020055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Public READ added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" y="5202935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90488" y="5202935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23951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SG sg-0abc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385815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alibri"/>
              </a:rPr>
              <a:t>0 inbound from 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54496" y="523951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SG sg-0abc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54496" y="5385815"/>
            <a:ext cx="73152" cy="1645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73368" y="5385815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EA580C"/>
                </a:solidFill>
                <a:latin typeface="Calibri"/>
              </a:rPr>
              <a:t>0.0.0.0/0:22 added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" y="5568695"/>
            <a:ext cx="5486400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90488" y="5568695"/>
            <a:ext cx="5486400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560527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IAM role admin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751575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alibri"/>
              </a:rPr>
              <a:t>12 attached policies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54496" y="560527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IAM role admin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54496" y="5751575"/>
            <a:ext cx="73152" cy="1645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73368" y="5751575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EA580C"/>
                </a:solidFill>
                <a:latin typeface="Calibri"/>
              </a:rPr>
              <a:t>15 (FullAccess added)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" y="5934455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190488" y="5934455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" y="597103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RDS encryption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117335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alibri"/>
              </a:rPr>
              <a:t>Enabled (AES-256)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54496" y="597103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RDS encryption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54496" y="6117335"/>
            <a:ext cx="73152" cy="1645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73368" y="6117335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EA580C"/>
                </a:solidFill>
                <a:latin typeface="Calibri"/>
              </a:rPr>
              <a:t>Disabled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" y="6300215"/>
            <a:ext cx="5486400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190488" y="6300215"/>
            <a:ext cx="5486400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0080" y="633679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CloudTrail logging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6483095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Calibri"/>
              </a:rPr>
              <a:t>Multi-region 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6336791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141A"/>
                </a:solidFill>
                <a:latin typeface="Calibri"/>
              </a:rPr>
              <a:t>CloudTrail logging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54496" y="6483095"/>
            <a:ext cx="73152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73368" y="6483095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Trail stopped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↑ Baseline Drift — side-by-side compare with severity-tagged deltas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dirty="0">
                <a:solidFill>
                  <a:srgbClr val="10141A"/>
                </a:solidFill>
                <a:latin typeface="Calibri"/>
              </a:rPr>
              <a:t>Reporting, Alerts &amp; Integrations</a:t>
            </a:r>
            <a:r>
              <a:rPr lang="en-IN" sz="2400" b="1" dirty="0">
                <a:solidFill>
                  <a:srgbClr val="10141A"/>
                </a:solidFill>
                <a:latin typeface="Calibri"/>
              </a:rPr>
              <a:t> - </a:t>
            </a:r>
            <a:r>
              <a:rPr lang="en-IN" sz="2400" b="1" dirty="0" err="1">
                <a:solidFill>
                  <a:srgbClr val="10141A"/>
                </a:solidFill>
                <a:latin typeface="Calibri"/>
              </a:rPr>
              <a:t>UpComing</a:t>
            </a:r>
            <a:endParaRPr sz="2400" b="1" dirty="0">
              <a:solidFill>
                <a:srgbClr val="10141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>
                <a:solidFill>
                  <a:srgbClr val="1D4ED8"/>
                </a:solidFill>
                <a:latin typeface="Calibri"/>
              </a:rPr>
              <a:t>Right finding · right team · right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914400" cy="365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3749039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307592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Per-account / per-cloud / per-framework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Formats: PDF · HTML · CSV ·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Scheduled (cron) + on-demand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ReportSchedule + ReportRun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4612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Posture history exported for 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234440"/>
            <a:ext cx="3749039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234440"/>
            <a:ext cx="3749039" cy="457200"/>
          </a:xfrm>
          <a:prstGeom prst="rect">
            <a:avLst/>
          </a:prstGeom>
          <a:solidFill>
            <a:srgbClr val="14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307592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78308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Slack channel routing by severity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4884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Email digest or per-event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51460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AlertLog — dedup + throttle 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88036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Freeze-window aware (no noise)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24612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Quiet-hours configurable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234440"/>
            <a:ext cx="3749039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1234440"/>
            <a:ext cx="3749039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307592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78308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Jira / ServiceNow ticketing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14884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Splunk / DataDog / SIEM webhooks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51460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Slack · Email · generic webhook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88036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Per-finding routing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24612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▸  IntegrationLog for audit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3886200"/>
            <a:ext cx="1143000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8056" y="3922776"/>
            <a:ext cx="11356848" cy="29260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21208" y="3995928"/>
            <a:ext cx="109728" cy="109728"/>
          </a:xfrm>
          <a:prstGeom prst="ellipse">
            <a:avLst/>
          </a:prstGeom>
          <a:solidFill>
            <a:srgbClr val="EF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85800" y="39959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50392" y="39959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188720" y="3959352"/>
            <a:ext cx="105156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80160" y="3977640"/>
            <a:ext cx="103327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cspm.local/reports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" y="429768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10141A"/>
                </a:solidFill>
                <a:latin typeface="Calibri"/>
              </a:rPr>
              <a:t>Findings — All Clouds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" y="4617720"/>
            <a:ext cx="640080" cy="228600"/>
          </a:xfrm>
          <a:prstGeom prst="roundRect">
            <a:avLst>
              <a:gd name="adj" fmla="val 10000"/>
            </a:avLst>
          </a:prstGeom>
          <a:solidFill>
            <a:srgbClr val="E8EFFC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" y="4654296"/>
            <a:ext cx="640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142A6B"/>
                </a:solidFill>
                <a:latin typeface="Calibri"/>
              </a:rPr>
              <a:t>AWS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9304" y="4617720"/>
            <a:ext cx="640080" cy="228600"/>
          </a:xfrm>
          <a:prstGeom prst="roundRect">
            <a:avLst>
              <a:gd name="adj" fmla="val 10000"/>
            </a:avLst>
          </a:prstGeom>
          <a:solidFill>
            <a:srgbClr val="E8EFFC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9304" y="4654296"/>
            <a:ext cx="640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142A6B"/>
                </a:solidFill>
                <a:latin typeface="Calibri"/>
              </a:rPr>
              <a:t>S3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02536" y="4617720"/>
            <a:ext cx="640080" cy="228600"/>
          </a:xfrm>
          <a:prstGeom prst="roundRect">
            <a:avLst>
              <a:gd name="adj" fmla="val 10000"/>
            </a:avLst>
          </a:prstGeom>
          <a:solidFill>
            <a:srgbClr val="E8EFFC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002536" y="4654296"/>
            <a:ext cx="640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142A6B"/>
                </a:solidFill>
                <a:latin typeface="Calibri"/>
              </a:rPr>
              <a:t>CRITICAL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15768" y="4617720"/>
            <a:ext cx="640080" cy="228600"/>
          </a:xfrm>
          <a:prstGeom prst="roundRect">
            <a:avLst>
              <a:gd name="adj" fmla="val 10000"/>
            </a:avLst>
          </a:prstGeom>
          <a:solidFill>
            <a:srgbClr val="E8EFFC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15768" y="4654296"/>
            <a:ext cx="640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142A6B"/>
                </a:solidFill>
                <a:latin typeface="Calibri"/>
              </a:rPr>
              <a:t>Last 7d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12680" y="461772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12680" y="4654296"/>
            <a:ext cx="502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PDF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61320" y="461772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561320" y="4654296"/>
            <a:ext cx="502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CSV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109960" y="461772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109960" y="4654296"/>
            <a:ext cx="502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" y="5029200"/>
            <a:ext cx="11100816" cy="274320"/>
          </a:xfrm>
          <a:prstGeom prst="rect">
            <a:avLst/>
          </a:prstGeom>
          <a:solidFill>
            <a:srgbClr val="14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5084064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Sev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5084064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94560" y="5084064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5084064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Resource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5084064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" y="5321808"/>
            <a:ext cx="1110081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40080" y="536752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539496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536752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D4ED8"/>
                </a:solidFill>
                <a:latin typeface="Calibri"/>
              </a:rPr>
              <a:t>S3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4560" y="536752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0141A"/>
                </a:solidFill>
                <a:latin typeface="Calibri"/>
              </a:rPr>
              <a:t>S3 Bucket Publicly Accessible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536752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prod-data-logs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536752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● Open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" y="5596128"/>
            <a:ext cx="11100816" cy="2560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640080" y="564184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0080" y="566928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80160" y="564184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D4ED8"/>
                </a:solidFill>
                <a:latin typeface="Calibri"/>
              </a:rPr>
              <a:t>IAM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564184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0141A"/>
                </a:solidFill>
                <a:latin typeface="Calibri"/>
              </a:rPr>
              <a:t>User Has Access Key Older Than 90d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564184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iam::deploy-bot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564184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EA580C"/>
                </a:solidFill>
                <a:latin typeface="Calibri"/>
              </a:rPr>
              <a:t>● In-Progress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6072" y="5870448"/>
            <a:ext cx="1110081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40080" y="591616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0080" y="594360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80160" y="591616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D4ED8"/>
                </a:solidFill>
                <a:latin typeface="Calibri"/>
              </a:rPr>
              <a:t>RDS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94560" y="591616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0141A"/>
                </a:solidFill>
                <a:latin typeface="Calibri"/>
              </a:rPr>
              <a:t>RDS Instance Not Encrypted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0" y="591616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rds::orders-db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591616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● Open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72" y="6144768"/>
            <a:ext cx="11100816" cy="2560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40080" y="619048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0080" y="621792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80160" y="619048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D4ED8"/>
                </a:solidFill>
                <a:latin typeface="Calibri"/>
              </a:rPr>
              <a:t>ECR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94560" y="619048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0141A"/>
                </a:solidFill>
                <a:latin typeface="Calibri"/>
              </a:rPr>
              <a:t>Image CVE: CVE-2024-21626 (HIGH)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0" y="619048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ecr::api-service:v3.2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7920" y="619048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● Open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" y="6419088"/>
            <a:ext cx="1110081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40080" y="646480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0080" y="649224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80160" y="646480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D4ED8"/>
                </a:solidFill>
                <a:latin typeface="Calibri"/>
              </a:rPr>
              <a:t>VPC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94560" y="646480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10141A"/>
                </a:solidFill>
                <a:latin typeface="Calibri"/>
              </a:rPr>
              <a:t>Flow Logs Disabled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0" y="646480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606B7B"/>
                </a:solidFill>
                <a:latin typeface="Calibri"/>
              </a:rPr>
              <a:t>vpc-0a1b2c3d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646480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10B981"/>
                </a:solidFill>
                <a:latin typeface="Calibri"/>
              </a:rPr>
              <a:t>● Fixed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606B7B"/>
                </a:solidFill>
                <a:latin typeface="Calibri"/>
              </a:rPr>
              <a:t>↑ Findings/Reports — filters, severity-aware rows, PDF/CSV/JSON export, inline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800" b="1">
                <a:solidFill>
                  <a:srgbClr val="10141A"/>
                </a:solidFill>
                <a:latin typeface="Calibri"/>
              </a:rPr>
              <a:t>One platform.  Three clouds.</a:t>
            </a:r>
          </a:p>
          <a:p>
            <a:pPr algn="l"/>
            <a:r>
              <a:rPr sz="3800" b="1">
                <a:solidFill>
                  <a:srgbClr val="10141A"/>
                </a:solidFill>
                <a:latin typeface="Calibri"/>
              </a:rPr>
              <a:t>Zero per-asset pricing.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1097280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200400"/>
            <a:ext cx="164592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364992"/>
            <a:ext cx="16459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Calibri"/>
              </a:rPr>
              <a:t>70+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13632"/>
            <a:ext cx="1645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Scanners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2004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06040" y="3200400"/>
            <a:ext cx="164592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40" y="3364992"/>
            <a:ext cx="16459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913632"/>
            <a:ext cx="1645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Frameworks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2004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3200400"/>
            <a:ext cx="164592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3364992"/>
            <a:ext cx="16459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913632"/>
            <a:ext cx="1645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Clouds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17720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▸  Replaces Wiz / Orca / Prisma + GuardDuty + Inspector + Macie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▸  Detect → Approve → Auto-remediate, end to 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▸  Self-hosted — your data, your VPC, predictable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77840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▸  Up and running in an afternoon (docker-compose up)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608076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6153912"/>
            <a:ext cx="23774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REQUEST DEMO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608076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37560" y="6153912"/>
            <a:ext cx="23774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Calibri"/>
              </a:rPr>
              <a:t>VIEW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1156</Words>
  <Application>Microsoft Office PowerPoint</Application>
  <PresentationFormat>Widescreen</PresentationFormat>
  <Paragraphs>270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Panchal, Nitin</cp:lastModifiedBy>
  <cp:revision>3</cp:revision>
  <dcterms:created xsi:type="dcterms:W3CDTF">2013-01-27T09:14:16Z</dcterms:created>
  <dcterms:modified xsi:type="dcterms:W3CDTF">2026-05-13T08:32:17Z</dcterms:modified>
  <cp:category/>
</cp:coreProperties>
</file>