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48" y="-18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8A5ECB-3891-406B-A674-17EDCF21C67F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A999E4-0D95-48E6-AE2F-827920B251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566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999E4-0D95-48E6-AE2F-827920B2514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9547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>
            <a:off x="7589520" y="0"/>
            <a:ext cx="4572000" cy="6858000"/>
          </a:xfrm>
          <a:prstGeom prst="rtTriangle">
            <a:avLst/>
          </a:prstGeom>
          <a:solidFill>
            <a:srgbClr val="13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788920"/>
            <a:ext cx="457200" cy="73152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058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2D9CDB"/>
                </a:solidFill>
                <a:latin typeface="Calibri"/>
              </a:rPr>
              <a:t>MULTI-CLOUD CSPM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005840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Unified Cloud Security</a:t>
            </a:r>
          </a:p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in One Platform.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91440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0">
                <a:solidFill>
                  <a:srgbClr val="CBD7E3"/>
                </a:solidFill>
                <a:latin typeface="Calibri"/>
              </a:rPr>
              <a:t>AWS · Azure · GCP  —  Scan, detect, comply, remediate.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64592" cy="608076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14300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Platform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114300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>
                <a:solidFill>
                  <a:srgbClr val="CBD7E3"/>
                </a:solidFill>
                <a:latin typeface="Calibri"/>
              </a:rPr>
              <a:t>What you get out of the 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109728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7B8A9D"/>
                </a:solidFill>
                <a:latin typeface="Calibri"/>
              </a:rPr>
              <a:t>Multi-Cloud CSPM Platform  |  AWS • Azure • GCP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1783080" cy="1280160"/>
          </a:xfrm>
          <a:prstGeom prst="roundRect">
            <a:avLst>
              <a:gd name="adj" fmla="val 10000"/>
            </a:avLst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7830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70+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17830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Cloud Scanners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95728" y="1051560"/>
            <a:ext cx="1783080" cy="1280160"/>
          </a:xfrm>
          <a:prstGeom prst="roundRect">
            <a:avLst>
              <a:gd name="adj" fmla="val 10000"/>
            </a:avLst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95728" y="1188720"/>
            <a:ext cx="17830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5728" y="1828800"/>
            <a:ext cx="17830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Cloud Providers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8536" y="1051560"/>
            <a:ext cx="1783080" cy="1280160"/>
          </a:xfrm>
          <a:prstGeom prst="roundRect">
            <a:avLst>
              <a:gd name="adj" fmla="val 10000"/>
            </a:avLst>
          </a:prstGeom>
          <a:solidFill>
            <a:srgbClr val="13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88536" y="1188720"/>
            <a:ext cx="17830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88536" y="1828800"/>
            <a:ext cx="17830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UI Pages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051560"/>
            <a:ext cx="1783080" cy="1280160"/>
          </a:xfrm>
          <a:prstGeom prst="roundRect">
            <a:avLst>
              <a:gd name="adj" fmla="val 10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81344" y="1188720"/>
            <a:ext cx="17830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1828800"/>
            <a:ext cx="17830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Compliance Frameworks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1051560"/>
            <a:ext cx="1783080" cy="128016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74152" y="1188720"/>
            <a:ext cx="17830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4152" y="1828800"/>
            <a:ext cx="17830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Async Workers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66960" y="1051560"/>
            <a:ext cx="1783080" cy="1280160"/>
          </a:xfrm>
          <a:prstGeom prst="roundRect">
            <a:avLst>
              <a:gd name="adj" fmla="val 10000"/>
            </a:avLst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66960" y="1188720"/>
            <a:ext cx="17830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1828800"/>
            <a:ext cx="178308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Data Models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2651760"/>
            <a:ext cx="278892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2920" y="2651760"/>
            <a:ext cx="73152" cy="146304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2743200"/>
            <a:ext cx="25603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Multi-Cloud, One UX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108960"/>
            <a:ext cx="2560320" cy="9601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>
                <a:solidFill>
                  <a:srgbClr val="34495E"/>
                </a:solidFill>
                <a:latin typeface="Calibri"/>
              </a:rPr>
              <a:t>AWS · Azure · GCP scanners share one engine, schema, dashboard.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01568" y="2651760"/>
            <a:ext cx="278892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401568" y="2651760"/>
            <a:ext cx="73152" cy="146304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84448" y="2743200"/>
            <a:ext cx="25603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Detect → Decide → Fix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84448" y="3108960"/>
            <a:ext cx="2560320" cy="9601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>
                <a:solidFill>
                  <a:srgbClr val="34495E"/>
                </a:solidFill>
                <a:latin typeface="Calibri"/>
              </a:rPr>
              <a:t>Findings flow into anomaly, approvals, auto-remediation.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0216" y="2651760"/>
            <a:ext cx="278892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300216" y="2651760"/>
            <a:ext cx="73152" cy="14630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3096" y="2743200"/>
            <a:ext cx="25603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Compliance Built-in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83096" y="3108960"/>
            <a:ext cx="2560320" cy="9601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>
                <a:solidFill>
                  <a:srgbClr val="34495E"/>
                </a:solidFill>
                <a:latin typeface="Calibri"/>
              </a:rPr>
              <a:t>PCI · SOC2 · ISO · HIPAA · CIS · GDPR — mapped automatically.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98864" y="2651760"/>
            <a:ext cx="278892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198864" y="2651760"/>
            <a:ext cx="73152" cy="1463040"/>
          </a:xfrm>
          <a:prstGeom prst="rect">
            <a:avLst/>
          </a:prstGeom>
          <a:solidFill>
            <a:srgbClr val="13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381744" y="2743200"/>
            <a:ext cx="25603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Self-Hosted by Design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81744" y="3108960"/>
            <a:ext cx="2560320" cy="9601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>
                <a:solidFill>
                  <a:srgbClr val="34495E"/>
                </a:solidFill>
                <a:latin typeface="Calibri"/>
              </a:rPr>
              <a:t>Postgres + Redis. Runs on one VM. Your data stays yours.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4389120"/>
            <a:ext cx="11247120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39496" y="4425696"/>
            <a:ext cx="11173968" cy="29260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12648" y="4498848"/>
            <a:ext cx="109728" cy="109728"/>
          </a:xfrm>
          <a:prstGeom prst="ellipse">
            <a:avLst/>
          </a:prstGeom>
          <a:solidFill>
            <a:srgbClr val="EF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77240" y="449884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941832" y="449884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1280160" y="4462272"/>
            <a:ext cx="10332720" cy="2194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371600" y="4480560"/>
            <a:ext cx="1014984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7B8A9D"/>
                </a:solidFill>
                <a:latin typeface="Calibri"/>
              </a:rPr>
              <a:t>cspm.local/dashboard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" y="4800600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Security Posture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" y="5029200"/>
            <a:ext cx="2743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7B8A9D"/>
                </a:solidFill>
                <a:latin typeface="Calibri"/>
              </a:rPr>
              <a:t>Across 3 clouds, 12 accounts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67512" y="5349240"/>
            <a:ext cx="266319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67512" y="5349240"/>
            <a:ext cx="45720" cy="64008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77240" y="5394960"/>
            <a:ext cx="255346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87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" y="5733288"/>
            <a:ext cx="2553462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7B8A9D"/>
                </a:solidFill>
                <a:latin typeface="Calibri"/>
              </a:rPr>
              <a:t>Posture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376422" y="5349240"/>
            <a:ext cx="266319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376422" y="5349240"/>
            <a:ext cx="45720" cy="6400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486150" y="5394960"/>
            <a:ext cx="255346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142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86150" y="5733288"/>
            <a:ext cx="2553462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7B8A9D"/>
                </a:solidFill>
                <a:latin typeface="Calibri"/>
              </a:rPr>
              <a:t>Findings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085332" y="5349240"/>
            <a:ext cx="266319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085332" y="5349240"/>
            <a:ext cx="45720" cy="6400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195060" y="5394960"/>
            <a:ext cx="255346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95060" y="5733288"/>
            <a:ext cx="2553462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7B8A9D"/>
                </a:solidFill>
                <a:latin typeface="Calibri"/>
              </a:rPr>
              <a:t>Critical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794242" y="5349240"/>
            <a:ext cx="266319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794242" y="5349240"/>
            <a:ext cx="45720" cy="64008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903970" y="5394960"/>
            <a:ext cx="255346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31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03970" y="5733288"/>
            <a:ext cx="2553462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7B8A9D"/>
                </a:solidFill>
                <a:latin typeface="Calibri"/>
              </a:rPr>
              <a:t>Resources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67512" y="6126480"/>
            <a:ext cx="10917936" cy="292608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77240" y="6199632"/>
            <a:ext cx="27432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1">
                <a:solidFill>
                  <a:srgbClr val="0B1F3A"/>
                </a:solidFill>
                <a:latin typeface="Calibri"/>
              </a:rPr>
              <a:t>Findings trend (30d)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77240" y="6103620"/>
            <a:ext cx="764177" cy="20574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559705" y="6021324"/>
            <a:ext cx="764177" cy="288036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2342170" y="6062472"/>
            <a:ext cx="764177" cy="246888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3124635" y="5897880"/>
            <a:ext cx="764177" cy="41148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3907100" y="5980176"/>
            <a:ext cx="764177" cy="329184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4689565" y="5939028"/>
            <a:ext cx="764177" cy="370332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5472030" y="5815584"/>
            <a:ext cx="764177" cy="493776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254496" y="5897880"/>
            <a:ext cx="764177" cy="41148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7036961" y="5733288"/>
            <a:ext cx="764177" cy="576072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7819426" y="5856732"/>
            <a:ext cx="764177" cy="452628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8601891" y="5939028"/>
            <a:ext cx="764177" cy="370332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9384356" y="5815584"/>
            <a:ext cx="764177" cy="493776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10166821" y="5897880"/>
            <a:ext cx="764177" cy="41148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0949286" y="5980176"/>
            <a:ext cx="764177" cy="329184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64592" cy="608076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14300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Cloud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114300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>
                <a:solidFill>
                  <a:srgbClr val="CBD7E3"/>
                </a:solidFill>
                <a:latin typeface="Calibri"/>
              </a:rPr>
              <a:t>70+ purpose-built scanners across AWS, Azure &amp; GCP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109728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7B8A9D"/>
                </a:solidFill>
                <a:latin typeface="Calibri"/>
              </a:rPr>
              <a:t>Multi-Cloud CSPM Platform  |  AWS • Azure • GCP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51560"/>
            <a:ext cx="3749039" cy="4114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051560"/>
            <a:ext cx="3749039" cy="77724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161288"/>
            <a:ext cx="374903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508760"/>
            <a:ext cx="3749039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25+ scanners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11680"/>
            <a:ext cx="347471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CloudTrail · IAM · S3 · EC2 · 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95728"/>
            <a:ext cx="347471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KMS · Secrets Manager · CloudWatch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779776"/>
            <a:ext cx="347471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VPC · Lambda · ECR · EBS · ELB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63824"/>
            <a:ext cx="347471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DynamoDB · ElastiCache · ACM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547872"/>
            <a:ext cx="347471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SNS · SQS · Redshift · ECS · WAF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931920"/>
            <a:ext cx="347471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CloudFront · API Gateway · SSM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315968"/>
            <a:ext cx="347471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Threat Detection (GuardDuty-eq)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59" y="1051560"/>
            <a:ext cx="3749039" cy="4114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51959" y="1051560"/>
            <a:ext cx="3749039" cy="7772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51959" y="1161288"/>
            <a:ext cx="374903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Azure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59" y="1508760"/>
            <a:ext cx="3749039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32 scanners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39" y="2011680"/>
            <a:ext cx="347471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Entra ID · IAM · Key Vault · NSG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39" y="2395728"/>
            <a:ext cx="347471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Storage · Cosmos · SQL · Postgres · MySQL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39" y="2779776"/>
            <a:ext cx="347471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VM · AKS · ACR · App Service · Functions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39" y="3163824"/>
            <a:ext cx="347471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Container Apps · App Gateway · APIM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39" y="3547872"/>
            <a:ext cx="347471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Service Bus · Event Hub · Event Grid · IoT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39" y="3931920"/>
            <a:ext cx="347471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Cognitive · AML · ADF · Synapse · 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39" y="4315968"/>
            <a:ext cx="347471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Log Analytics · Backup · Automation · Threat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38" y="1051560"/>
            <a:ext cx="3749039" cy="4114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92438" y="1051560"/>
            <a:ext cx="3749039" cy="77724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92438" y="1161288"/>
            <a:ext cx="374903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GCP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38" y="1508760"/>
            <a:ext cx="3749039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13 scanners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18" y="2011680"/>
            <a:ext cx="347471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IAM · KMS · Secret Manager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18" y="2395728"/>
            <a:ext cx="347471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Storage · BigQuery · Cloud SQL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18" y="2779776"/>
            <a:ext cx="347471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Compute Engine · GKE · Cloud Run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18" y="3163824"/>
            <a:ext cx="347471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Cloud Functions · Pub/Sub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18" y="3547872"/>
            <a:ext cx="347471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Artifact Registry · Cloud Logging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18" y="4069080"/>
            <a:ext cx="347471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Anomaly detection worker + CIS GCP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" y="5349240"/>
            <a:ext cx="11430000" cy="105156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4360" y="544068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One Engine, One Schema, One UI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5760720"/>
            <a:ext cx="109728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>
                <a:solidFill>
                  <a:srgbClr val="CBD7E3"/>
                </a:solidFill>
                <a:latin typeface="Calibri"/>
              </a:rPr>
              <a:t>All scanners share the same fingerprint logic, severity model, finding shape, and compliance mapping. Add a new cloud or service and the dashboard, reports, alerts, and approval flow pick it up automatically.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64592" cy="608076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14300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Threat Detection — GuardDuty Without the License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114300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>
                <a:solidFill>
                  <a:srgbClr val="CBD7E3"/>
                </a:solidFill>
                <a:latin typeface="Calibri"/>
              </a:rPr>
              <a:t>Active threats from CloudTrail · IAM · resource APIs — no add-on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109728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7B8A9D"/>
                </a:solidFill>
                <a:latin typeface="Calibri"/>
              </a:rPr>
              <a:t>Multi-Cloud CSPM Platform  |  AWS • Azure • GCP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51560"/>
            <a:ext cx="5029200" cy="530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051560"/>
            <a:ext cx="109728" cy="5303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124712"/>
            <a:ext cx="475488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Defense Evasion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25880"/>
            <a:ext cx="475488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CloudTrail off · Config recorder stopped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645920"/>
            <a:ext cx="5029200" cy="530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1645920"/>
            <a:ext cx="109728" cy="5303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719072"/>
            <a:ext cx="475488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Unauthorized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920240"/>
            <a:ext cx="475488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Root API · login no-MFA · brute force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240280"/>
            <a:ext cx="5029200" cy="530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1480" y="2240280"/>
            <a:ext cx="109728" cy="53035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2313432"/>
            <a:ext cx="475488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Persistence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514600"/>
            <a:ext cx="475488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New admin · new keys · cross-account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2834640"/>
            <a:ext cx="5029200" cy="530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1480" y="2834640"/>
            <a:ext cx="109728" cy="53035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2907792"/>
            <a:ext cx="475488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Privilege Escalation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108960"/>
            <a:ext cx="475488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iam:* attached · admin role assumed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3429000"/>
            <a:ext cx="5029200" cy="530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1480" y="3429000"/>
            <a:ext cx="109728" cy="530352"/>
          </a:xfrm>
          <a:prstGeom prst="rect">
            <a:avLst/>
          </a:prstGeom>
          <a:solidFill>
            <a:srgbClr val="F1C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475488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Reconnaissance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703320"/>
            <a:ext cx="475488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IAM enum · mass Describe/List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4023360"/>
            <a:ext cx="5029200" cy="530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1480" y="4023360"/>
            <a:ext cx="109728" cy="5303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4096512"/>
            <a:ext cx="475488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Data Exfiltration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297680"/>
            <a:ext cx="475488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Mass S3 delete · snapshot made public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0" y="1051560"/>
            <a:ext cx="6172200" cy="457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705856" y="1088136"/>
            <a:ext cx="6099048" cy="29260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779008" y="1161288"/>
            <a:ext cx="109728" cy="109728"/>
          </a:xfrm>
          <a:prstGeom prst="ellipse">
            <a:avLst/>
          </a:prstGeom>
          <a:solidFill>
            <a:srgbClr val="EF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943600" y="116128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108192" y="116128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446520" y="1124712"/>
            <a:ext cx="5257800" cy="2194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37960" y="1143000"/>
            <a:ext cx="507492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7B8A9D"/>
                </a:solidFill>
                <a:latin typeface="Calibri"/>
              </a:rPr>
              <a:t>cspm.local/threats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3872" y="1463040"/>
            <a:ext cx="3657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Threat Detection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33872" y="1783080"/>
            <a:ext cx="1280160" cy="411480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833872" y="1819656"/>
            <a:ext cx="12801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33872" y="2011680"/>
            <a:ext cx="12801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59752" y="1783080"/>
            <a:ext cx="1280160" cy="411480"/>
          </a:xfrm>
          <a:prstGeom prst="roundRect">
            <a:avLst>
              <a:gd name="adj" fmla="val 1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159752" y="1819656"/>
            <a:ext cx="12801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59752" y="2011680"/>
            <a:ext cx="12801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85632" y="1783080"/>
            <a:ext cx="1280160" cy="411480"/>
          </a:xfrm>
          <a:prstGeom prst="roundRect">
            <a:avLst>
              <a:gd name="adj" fmla="val 1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485632" y="1819656"/>
            <a:ext cx="12801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85632" y="2011680"/>
            <a:ext cx="12801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833872" y="2331720"/>
            <a:ext cx="777240" cy="246888"/>
          </a:xfrm>
          <a:prstGeom prst="roundRect">
            <a:avLst>
              <a:gd name="adj" fmla="val 10000"/>
            </a:avLst>
          </a:prstGeom>
          <a:solidFill>
            <a:srgbClr val="2D9CDB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833872" y="2359152"/>
            <a:ext cx="7772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All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656832" y="2331720"/>
            <a:ext cx="777240" cy="2468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656832" y="2359152"/>
            <a:ext cx="7772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1">
                <a:solidFill>
                  <a:srgbClr val="34495E"/>
                </a:solidFill>
                <a:latin typeface="Calibri"/>
              </a:rPr>
              <a:t>Persistence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79792" y="2331720"/>
            <a:ext cx="777240" cy="2468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479792" y="2359152"/>
            <a:ext cx="7772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1">
                <a:solidFill>
                  <a:srgbClr val="34495E"/>
                </a:solidFill>
                <a:latin typeface="Calibri"/>
              </a:rPr>
              <a:t>Recon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302752" y="2331720"/>
            <a:ext cx="777240" cy="2468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302752" y="2359152"/>
            <a:ext cx="7772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1">
                <a:solidFill>
                  <a:srgbClr val="34495E"/>
                </a:solidFill>
                <a:latin typeface="Calibri"/>
              </a:rPr>
              <a:t>Exfil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125712" y="2331720"/>
            <a:ext cx="777240" cy="2468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125712" y="2359152"/>
            <a:ext cx="7772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1">
                <a:solidFill>
                  <a:srgbClr val="34495E"/>
                </a:solidFill>
                <a:latin typeface="Calibri"/>
              </a:rPr>
              <a:t>Priv Esc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948672" y="2331720"/>
            <a:ext cx="777240" cy="2468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948672" y="2359152"/>
            <a:ext cx="7772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1">
                <a:solidFill>
                  <a:srgbClr val="34495E"/>
                </a:solidFill>
                <a:latin typeface="Calibri"/>
              </a:rPr>
              <a:t>Defense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833872" y="2697480"/>
            <a:ext cx="5843016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833872" y="2697480"/>
            <a:ext cx="54864" cy="34747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5943600" y="2770632"/>
            <a:ext cx="594360" cy="201168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43600" y="2798064"/>
            <a:ext cx="594360" cy="1737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0" y="2770632"/>
            <a:ext cx="23774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50" b="1">
                <a:solidFill>
                  <a:srgbClr val="0B1F3A"/>
                </a:solidFill>
                <a:latin typeface="Calibri"/>
              </a:rPr>
              <a:t>Root Account API Activity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52560" y="2770632"/>
            <a:ext cx="14630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34495E"/>
                </a:solidFill>
                <a:latin typeface="Calibri"/>
              </a:rPr>
              <a:t>AWS::Root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2770632"/>
            <a:ext cx="7315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7B8A9D"/>
                </a:solidFill>
                <a:latin typeface="Calibri"/>
              </a:rPr>
              <a:t>10:42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833872" y="3108960"/>
            <a:ext cx="5843016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5833872" y="3108960"/>
            <a:ext cx="54864" cy="34747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5943600" y="3182112"/>
            <a:ext cx="594360" cy="201168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943600" y="3209544"/>
            <a:ext cx="594360" cy="1737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83680" y="3182112"/>
            <a:ext cx="23774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50" b="1">
                <a:solidFill>
                  <a:srgbClr val="0B1F3A"/>
                </a:solidFill>
                <a:latin typeface="Calibri"/>
              </a:rPr>
              <a:t>Mass S3 Object Deletion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52560" y="3182112"/>
            <a:ext cx="14630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34495E"/>
                </a:solidFill>
                <a:latin typeface="Calibri"/>
              </a:rPr>
              <a:t>iam::svc-backup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3182112"/>
            <a:ext cx="7315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7B8A9D"/>
                </a:solidFill>
                <a:latin typeface="Calibri"/>
              </a:rPr>
              <a:t>09:18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833872" y="3520440"/>
            <a:ext cx="5843016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5833872" y="3520440"/>
            <a:ext cx="54864" cy="34747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5943600" y="3593592"/>
            <a:ext cx="594360" cy="201168"/>
          </a:xfrm>
          <a:prstGeom prst="roundRect">
            <a:avLst>
              <a:gd name="adj" fmla="val 1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943600" y="3621024"/>
            <a:ext cx="594360" cy="1737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0" y="3593592"/>
            <a:ext cx="23774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50" b="1">
                <a:solidFill>
                  <a:srgbClr val="0B1F3A"/>
                </a:solidFill>
                <a:latin typeface="Calibri"/>
              </a:rPr>
              <a:t>New IAM Admin User Created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52560" y="3593592"/>
            <a:ext cx="14630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34495E"/>
                </a:solidFill>
                <a:latin typeface="Calibri"/>
              </a:rPr>
              <a:t>iam::ops-deploy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515600" y="3593592"/>
            <a:ext cx="7315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7B8A9D"/>
                </a:solidFill>
                <a:latin typeface="Calibri"/>
              </a:rPr>
              <a:t>08:55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833872" y="3931920"/>
            <a:ext cx="5843016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5833872" y="3931920"/>
            <a:ext cx="54864" cy="34747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5943600" y="4005072"/>
            <a:ext cx="594360" cy="201168"/>
          </a:xfrm>
          <a:prstGeom prst="roundRect">
            <a:avLst>
              <a:gd name="adj" fmla="val 1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943600" y="4032504"/>
            <a:ext cx="594360" cy="1737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583680" y="4005072"/>
            <a:ext cx="23774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50" b="1">
                <a:solidFill>
                  <a:srgbClr val="0B1F3A"/>
                </a:solidFill>
                <a:latin typeface="Calibri"/>
              </a:rPr>
              <a:t>Console Login Without MFA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052560" y="4005072"/>
            <a:ext cx="14630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34495E"/>
                </a:solidFill>
                <a:latin typeface="Calibri"/>
              </a:rPr>
              <a:t>iam::dev-jane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515600" y="4005072"/>
            <a:ext cx="7315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7B8A9D"/>
                </a:solidFill>
                <a:latin typeface="Calibri"/>
              </a:rPr>
              <a:t>07:30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833872" y="4343400"/>
            <a:ext cx="5843016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5833872" y="4343400"/>
            <a:ext cx="54864" cy="347472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5943600" y="4416552"/>
            <a:ext cx="594360" cy="201168"/>
          </a:xfrm>
          <a:prstGeom prst="roundRect">
            <a:avLst>
              <a:gd name="adj" fmla="val 1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943600" y="4443984"/>
            <a:ext cx="594360" cy="1737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583680" y="4416552"/>
            <a:ext cx="23774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50" b="1">
                <a:solidFill>
                  <a:srgbClr val="0B1F3A"/>
                </a:solidFill>
                <a:latin typeface="Calibri"/>
              </a:rPr>
              <a:t>IAM Enumeration Detected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052560" y="4416552"/>
            <a:ext cx="146304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34495E"/>
                </a:solidFill>
                <a:latin typeface="Calibri"/>
              </a:rPr>
              <a:t>role::recon-bot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515600" y="4416552"/>
            <a:ext cx="7315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7B8A9D"/>
                </a:solidFill>
                <a:latin typeface="Calibri"/>
              </a:rPr>
              <a:t>06:11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669280" y="5760720"/>
            <a:ext cx="6172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7B8A9D"/>
                </a:solidFill>
                <a:latin typeface="Calibri"/>
              </a:rPr>
              <a:t>↑ Threat Detection page — severity tally, category tabs, actor &amp; event time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79730" y="5817870"/>
            <a:ext cx="5074920" cy="64008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71170" y="5863590"/>
            <a:ext cx="5029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71170" y="6092190"/>
            <a:ext cx="50292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CBD7E3"/>
                </a:solidFill>
                <a:latin typeface="Calibri"/>
              </a:rPr>
              <a:t>Targeted CloudTrail LookupEvents · rate-limited 2 rps · severity-windowed (24h/7d) · per-account scan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64592" cy="608076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14300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Compliance — PCI · SOC 2 · ISO 27001 · HIPAA · CIS · GDPR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114300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>
                <a:solidFill>
                  <a:srgbClr val="CBD7E3"/>
                </a:solidFill>
                <a:latin typeface="Calibri"/>
              </a:rPr>
              <a:t>Continuous score, evidence-backed, auditor-ready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109728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7B8A9D"/>
                </a:solidFill>
                <a:latin typeface="Calibri"/>
              </a:rPr>
              <a:t>Multi-Cloud CSPM Platform  |  AWS • Azure • GCP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51560"/>
            <a:ext cx="246888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051560"/>
            <a:ext cx="2468880" cy="3840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106424"/>
            <a:ext cx="246888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PCI-DSS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508760"/>
            <a:ext cx="246888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>
                <a:solidFill>
                  <a:srgbClr val="34495E"/>
                </a:solidFill>
                <a:latin typeface="Calibri"/>
              </a:rPr>
              <a:t>Card-holder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1051560"/>
            <a:ext cx="246888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971800" y="1051560"/>
            <a:ext cx="2468880" cy="384048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71800" y="1106424"/>
            <a:ext cx="246888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SOC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1508760"/>
            <a:ext cx="246888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>
                <a:solidFill>
                  <a:srgbClr val="34495E"/>
                </a:solidFill>
                <a:latin typeface="Calibri"/>
              </a:rPr>
              <a:t>Trust services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148840"/>
            <a:ext cx="246888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1480" y="2148840"/>
            <a:ext cx="2468880" cy="384048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2203704"/>
            <a:ext cx="246888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ISO 27001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2606040"/>
            <a:ext cx="246888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>
                <a:solidFill>
                  <a:srgbClr val="34495E"/>
                </a:solidFill>
                <a:latin typeface="Calibri"/>
              </a:rPr>
              <a:t>ISMS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71800" y="2148840"/>
            <a:ext cx="246888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971800" y="2148840"/>
            <a:ext cx="2468880" cy="384048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71800" y="2203704"/>
            <a:ext cx="246888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HIPAA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2606040"/>
            <a:ext cx="246888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>
                <a:solidFill>
                  <a:srgbClr val="34495E"/>
                </a:solidFill>
                <a:latin typeface="Calibri"/>
              </a:rPr>
              <a:t>Health info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3246120"/>
            <a:ext cx="246888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1480" y="3246120"/>
            <a:ext cx="2468880" cy="384048"/>
          </a:xfrm>
          <a:prstGeom prst="rect">
            <a:avLst/>
          </a:prstGeom>
          <a:solidFill>
            <a:srgbClr val="13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3300984"/>
            <a:ext cx="246888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3703320"/>
            <a:ext cx="246888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>
                <a:solidFill>
                  <a:srgbClr val="34495E"/>
                </a:solidFill>
                <a:latin typeface="Calibri"/>
              </a:rPr>
              <a:t>Cloud benchmark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71800" y="3246120"/>
            <a:ext cx="246888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971800" y="3246120"/>
            <a:ext cx="2468880" cy="384048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971800" y="3300984"/>
            <a:ext cx="246888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GDPR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1800" y="3703320"/>
            <a:ext cx="246888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00" b="0">
                <a:solidFill>
                  <a:srgbClr val="34495E"/>
                </a:solidFill>
                <a:latin typeface="Calibri"/>
              </a:rPr>
              <a:t>EU data privacy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52160" y="1051560"/>
            <a:ext cx="5989320" cy="3474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888736" y="1088136"/>
            <a:ext cx="5916168" cy="29260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961888" y="1161288"/>
            <a:ext cx="109728" cy="109728"/>
          </a:xfrm>
          <a:prstGeom prst="ellipse">
            <a:avLst/>
          </a:prstGeom>
          <a:solidFill>
            <a:srgbClr val="EF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126480" y="116128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291072" y="116128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629400" y="1124712"/>
            <a:ext cx="5074920" cy="2194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720840" y="1143000"/>
            <a:ext cx="489204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7B8A9D"/>
                </a:solidFill>
                <a:latin typeface="Calibri"/>
              </a:rPr>
              <a:t>cspm.local/compliance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16752" y="1463040"/>
            <a:ext cx="3657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Compliance Score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16752" y="1828800"/>
            <a:ext cx="181356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126480" y="1993392"/>
            <a:ext cx="685800" cy="685800"/>
          </a:xfrm>
          <a:prstGeom prst="ellipse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199632" y="2066544"/>
            <a:ext cx="539496" cy="5394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26480" y="2212848"/>
            <a:ext cx="685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E67E22"/>
                </a:solidFill>
                <a:latin typeface="Calibri"/>
              </a:rPr>
              <a:t>78%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85432" y="2029968"/>
            <a:ext cx="8534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PCI-DSS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85432" y="2359152"/>
            <a:ext cx="807720" cy="109728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6885432" y="2359152"/>
            <a:ext cx="630021" cy="109728"/>
          </a:xfrm>
          <a:prstGeom prst="roundRect">
            <a:avLst>
              <a:gd name="adj" fmla="val 10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885432" y="2514600"/>
            <a:ext cx="80772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650" b="0">
                <a:solidFill>
                  <a:srgbClr val="7B8A9D"/>
                </a:solidFill>
                <a:latin typeface="Calibri"/>
              </a:rPr>
              <a:t>78 of 100 controls passing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876032" y="1828800"/>
            <a:ext cx="181356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7985760" y="1993392"/>
            <a:ext cx="685800" cy="685800"/>
          </a:xfrm>
          <a:prstGeom prst="ellipse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8058912" y="2066544"/>
            <a:ext cx="539496" cy="5394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985760" y="2212848"/>
            <a:ext cx="685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27AE60"/>
                </a:solidFill>
                <a:latin typeface="Calibri"/>
              </a:rPr>
              <a:t>92%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44712" y="2029968"/>
            <a:ext cx="8534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SOC 2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744712" y="2359152"/>
            <a:ext cx="807720" cy="109728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8744712" y="2359152"/>
            <a:ext cx="743102" cy="109728"/>
          </a:xfrm>
          <a:prstGeom prst="roundRect">
            <a:avLst>
              <a:gd name="adj" fmla="val 10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744712" y="2514600"/>
            <a:ext cx="80772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650" b="0">
                <a:solidFill>
                  <a:srgbClr val="7B8A9D"/>
                </a:solidFill>
                <a:latin typeface="Calibri"/>
              </a:rPr>
              <a:t>92 of 100 controls passing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735312" y="1828800"/>
            <a:ext cx="181356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9845040" y="1993392"/>
            <a:ext cx="685800" cy="685800"/>
          </a:xfrm>
          <a:prstGeom prst="ellipse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9918192" y="2066544"/>
            <a:ext cx="539496" cy="5394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845040" y="2212848"/>
            <a:ext cx="685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1ABC9C"/>
                </a:solidFill>
                <a:latin typeface="Calibri"/>
              </a:rPr>
              <a:t>85%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03992" y="2029968"/>
            <a:ext cx="8534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ISO 27001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603992" y="2359152"/>
            <a:ext cx="807720" cy="109728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10603992" y="2359152"/>
            <a:ext cx="686562" cy="109728"/>
          </a:xfrm>
          <a:prstGeom prst="roundRect">
            <a:avLst>
              <a:gd name="adj" fmla="val 10000"/>
            </a:avLst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603992" y="2514600"/>
            <a:ext cx="80772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650" b="0">
                <a:solidFill>
                  <a:srgbClr val="7B8A9D"/>
                </a:solidFill>
                <a:latin typeface="Calibri"/>
              </a:rPr>
              <a:t>85 of 100 controls passing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016752" y="2880360"/>
            <a:ext cx="181356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6126480" y="3044952"/>
            <a:ext cx="685800" cy="685800"/>
          </a:xfrm>
          <a:prstGeom prst="ellipse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6199632" y="3118104"/>
            <a:ext cx="539496" cy="5394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126480" y="3264408"/>
            <a:ext cx="685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E67E22"/>
                </a:solidFill>
                <a:latin typeface="Calibri"/>
              </a:rPr>
              <a:t>71%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85432" y="3081528"/>
            <a:ext cx="8534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HIPAA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885432" y="3410712"/>
            <a:ext cx="807720" cy="109728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6885432" y="3410712"/>
            <a:ext cx="573481" cy="109728"/>
          </a:xfrm>
          <a:prstGeom prst="roundRect">
            <a:avLst>
              <a:gd name="adj" fmla="val 10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885432" y="3566160"/>
            <a:ext cx="80772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650" b="0">
                <a:solidFill>
                  <a:srgbClr val="7B8A9D"/>
                </a:solidFill>
                <a:latin typeface="Calibri"/>
              </a:rPr>
              <a:t>71 of 100 controls passing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876032" y="2880360"/>
            <a:ext cx="181356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7985760" y="3044952"/>
            <a:ext cx="685800" cy="685800"/>
          </a:xfrm>
          <a:prstGeom prst="ellipse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8058912" y="3118104"/>
            <a:ext cx="539496" cy="5394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985760" y="3264408"/>
            <a:ext cx="685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27AE60"/>
                </a:solidFill>
                <a:latin typeface="Calibri"/>
              </a:rPr>
              <a:t>88%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744712" y="3081528"/>
            <a:ext cx="8534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CIS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744712" y="3410712"/>
            <a:ext cx="807720" cy="109728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8744712" y="3410712"/>
            <a:ext cx="710793" cy="109728"/>
          </a:xfrm>
          <a:prstGeom prst="roundRect">
            <a:avLst>
              <a:gd name="adj" fmla="val 10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744712" y="3566160"/>
            <a:ext cx="80772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650" b="0">
                <a:solidFill>
                  <a:srgbClr val="7B8A9D"/>
                </a:solidFill>
                <a:latin typeface="Calibri"/>
              </a:rPr>
              <a:t>88 of 100 controls passing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735312" y="2880360"/>
            <a:ext cx="181356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9845040" y="3044952"/>
            <a:ext cx="685800" cy="685800"/>
          </a:xfrm>
          <a:prstGeom prst="ellipse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9918192" y="3118104"/>
            <a:ext cx="539496" cy="5394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845040" y="3264408"/>
            <a:ext cx="685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100" b="1">
                <a:solidFill>
                  <a:srgbClr val="1ABC9C"/>
                </a:solidFill>
                <a:latin typeface="Calibri"/>
              </a:rPr>
              <a:t>82%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603992" y="3081528"/>
            <a:ext cx="8534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Calibri"/>
              </a:rPr>
              <a:t>GDPR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0603992" y="3410712"/>
            <a:ext cx="807720" cy="109728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10603992" y="3410712"/>
            <a:ext cx="662330" cy="109728"/>
          </a:xfrm>
          <a:prstGeom prst="roundRect">
            <a:avLst>
              <a:gd name="adj" fmla="val 10000"/>
            </a:avLst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0603992" y="3566160"/>
            <a:ext cx="80772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650" b="0">
                <a:solidFill>
                  <a:srgbClr val="7B8A9D"/>
                </a:solidFill>
                <a:latin typeface="Calibri"/>
              </a:rPr>
              <a:t>82 of 100 controls passing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852160" y="4617720"/>
            <a:ext cx="598932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7B8A9D"/>
                </a:solidFill>
                <a:latin typeface="Calibri"/>
              </a:rPr>
              <a:t>↑ Compliance page — live score per framework, drill into failing controls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11480" y="5029200"/>
            <a:ext cx="2788920" cy="14173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411480" y="5029200"/>
            <a:ext cx="73152" cy="141732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576072" y="5138928"/>
            <a:ext cx="25603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Posture Score Engine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76072" y="5486400"/>
            <a:ext cx="2560320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Weighted scoring, trend history, per-account.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310128" y="5029200"/>
            <a:ext cx="2788920" cy="14173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3310128" y="5029200"/>
            <a:ext cx="73152" cy="141732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474720" y="5138928"/>
            <a:ext cx="25603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Evidence Auto-Collected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474720" y="5486400"/>
            <a:ext cx="2560320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Every finding emits an evidence record (90-day TTL).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208776" y="5029200"/>
            <a:ext cx="2788920" cy="14173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6208776" y="5029200"/>
            <a:ext cx="73152" cy="141732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373368" y="5138928"/>
            <a:ext cx="25603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Control Mapping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373368" y="5486400"/>
            <a:ext cx="2560320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Each finding linked to one or more controls.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107424" y="5029200"/>
            <a:ext cx="2788920" cy="14173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9107424" y="5029200"/>
            <a:ext cx="73152" cy="141732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9272016" y="5138928"/>
            <a:ext cx="256032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Exportable Reports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272016" y="5486400"/>
            <a:ext cx="2560320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Per-framework PDF / HTML / CSV on demand.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64592" cy="608076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14300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Drift, Baselines &amp; Config Sync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114300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>
                <a:solidFill>
                  <a:srgbClr val="CBD7E3"/>
                </a:solidFill>
                <a:latin typeface="Calibri"/>
              </a:rPr>
              <a:t>Know exactly what changed, by whom, against which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109728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7B8A9D"/>
                </a:solidFill>
                <a:latin typeface="Calibri"/>
              </a:rPr>
              <a:t>Multi-Cloud CSPM Platform  |  AWS • Azure • GCP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51560"/>
            <a:ext cx="3749039" cy="2468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051560"/>
            <a:ext cx="3749039" cy="45720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143000"/>
            <a:ext cx="374903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Configuration Baselines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347471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Capture known-good state per cloud account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11680"/>
            <a:ext cx="347471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Versioned snapshots (BaselineVersion model)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77440"/>
            <a:ext cx="347471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Per-resource fingerprint diffing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743200"/>
            <a:ext cx="347471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Compare any two versions side-by-side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59" y="1051560"/>
            <a:ext cx="3749039" cy="2468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51959" y="1051560"/>
            <a:ext cx="3749039" cy="4572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51959" y="1143000"/>
            <a:ext cx="374903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Config Change Monitor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39" y="1645920"/>
            <a:ext cx="347471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Streaming detection of resource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39" y="2011680"/>
            <a:ext cx="347471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Classified: security-impact vs cosmetic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39" y="2377440"/>
            <a:ext cx="347471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Who-what-when retained per change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39" y="2743200"/>
            <a:ext cx="347471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Replayable timeline per resource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38" y="1051560"/>
            <a:ext cx="3749039" cy="2468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92438" y="1051560"/>
            <a:ext cx="3749039" cy="45720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92438" y="1143000"/>
            <a:ext cx="374903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Freeze Windows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18" y="1645920"/>
            <a:ext cx="347471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Block remediation in release windows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18" y="2011680"/>
            <a:ext cx="347471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Per-account / per-cloud / global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18" y="2377440"/>
            <a:ext cx="347471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Audit trail of who declared the freeze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8" y="2743200"/>
            <a:ext cx="347471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Live banner in dashboard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3703320"/>
            <a:ext cx="11430000" cy="2788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48056" y="3739896"/>
            <a:ext cx="11356848" cy="29260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21208" y="3813048"/>
            <a:ext cx="109728" cy="109728"/>
          </a:xfrm>
          <a:prstGeom prst="ellipse">
            <a:avLst/>
          </a:prstGeom>
          <a:solidFill>
            <a:srgbClr val="EF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85800" y="381304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50392" y="381304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188720" y="3776472"/>
            <a:ext cx="10515600" cy="2194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280160" y="3794760"/>
            <a:ext cx="1033272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7B8A9D"/>
                </a:solidFill>
                <a:latin typeface="Calibri"/>
              </a:rPr>
              <a:t>cspm.local/baselines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" y="4114800"/>
            <a:ext cx="3657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Baseline Drift — v1.4 vs current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6072" y="4480560"/>
            <a:ext cx="5486400" cy="2377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76072" y="4480560"/>
            <a:ext cx="5486400" cy="274320"/>
          </a:xfrm>
          <a:prstGeom prst="rect">
            <a:avLst/>
          </a:prstGeom>
          <a:solidFill>
            <a:srgbClr val="13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76072" y="4526280"/>
            <a:ext cx="54864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Baseline v1.4 (snapshot 2026-04-01)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90488" y="4480560"/>
            <a:ext cx="5486400" cy="2377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190488" y="4480560"/>
            <a:ext cx="5486400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190488" y="4526280"/>
            <a:ext cx="54864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Current (2026-05-13) — 7 drifts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6072" y="4828032"/>
            <a:ext cx="5486400" cy="3657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190488" y="4828032"/>
            <a:ext cx="5486400" cy="3657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0080" y="4873752"/>
            <a:ext cx="53949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0B1F3A"/>
                </a:solidFill>
                <a:latin typeface="Calibri"/>
              </a:rPr>
              <a:t>S3 bucket policy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5020056"/>
            <a:ext cx="53949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34495E"/>
                </a:solidFill>
                <a:latin typeface="Calibri"/>
              </a:rPr>
              <a:t>Block public ACL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54496" y="4873752"/>
            <a:ext cx="53949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0B1F3A"/>
                </a:solidFill>
                <a:latin typeface="Calibri"/>
              </a:rPr>
              <a:t>S3 bucket policy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54496" y="5020056"/>
            <a:ext cx="73152" cy="16459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73368" y="5020056"/>
            <a:ext cx="52578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DC2626"/>
                </a:solidFill>
                <a:latin typeface="Calibri"/>
              </a:rPr>
              <a:t>Public READ added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6072" y="5212080"/>
            <a:ext cx="54864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190488" y="5212080"/>
            <a:ext cx="54864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0080" y="5257800"/>
            <a:ext cx="53949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0B1F3A"/>
                </a:solidFill>
                <a:latin typeface="Calibri"/>
              </a:rPr>
              <a:t>SG sg-0abc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5404104"/>
            <a:ext cx="53949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34495E"/>
                </a:solidFill>
                <a:latin typeface="Calibri"/>
              </a:rPr>
              <a:t>0 inbound from any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54496" y="5257800"/>
            <a:ext cx="53949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0B1F3A"/>
                </a:solidFill>
                <a:latin typeface="Calibri"/>
              </a:rPr>
              <a:t>SG sg-0abc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54496" y="5404104"/>
            <a:ext cx="73152" cy="16459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373368" y="5404104"/>
            <a:ext cx="52578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EA580C"/>
                </a:solidFill>
                <a:latin typeface="Calibri"/>
              </a:rPr>
              <a:t>0.0.0.0/0:22 added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76072" y="5596128"/>
            <a:ext cx="5486400" cy="3657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190488" y="5596128"/>
            <a:ext cx="5486400" cy="3657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0080" y="5641848"/>
            <a:ext cx="53949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0B1F3A"/>
                </a:solidFill>
                <a:latin typeface="Calibri"/>
              </a:rPr>
              <a:t>IAM role admin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5788152"/>
            <a:ext cx="53949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34495E"/>
                </a:solidFill>
                <a:latin typeface="Calibri"/>
              </a:rPr>
              <a:t>12 attached policies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54496" y="5641848"/>
            <a:ext cx="53949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0B1F3A"/>
                </a:solidFill>
                <a:latin typeface="Calibri"/>
              </a:rPr>
              <a:t>IAM role admin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54496" y="5788152"/>
            <a:ext cx="73152" cy="16459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373368" y="5788152"/>
            <a:ext cx="52578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EA580C"/>
                </a:solidFill>
                <a:latin typeface="Calibri"/>
              </a:rPr>
              <a:t>15 (added FullAccess)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76072" y="5980176"/>
            <a:ext cx="54864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6190488" y="5980176"/>
            <a:ext cx="54864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40080" y="6025896"/>
            <a:ext cx="53949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0B1F3A"/>
                </a:solidFill>
                <a:latin typeface="Calibri"/>
              </a:rPr>
              <a:t>RDS encryption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" y="6172200"/>
            <a:ext cx="53949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34495E"/>
                </a:solidFill>
                <a:latin typeface="Calibri"/>
              </a:rPr>
              <a:t>Enabled (AES-256)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54496" y="6025896"/>
            <a:ext cx="53949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0B1F3A"/>
                </a:solidFill>
                <a:latin typeface="Calibri"/>
              </a:rPr>
              <a:t>RDS encryption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54496" y="6172200"/>
            <a:ext cx="73152" cy="16459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373368" y="6172200"/>
            <a:ext cx="52578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EA580C"/>
                </a:solidFill>
                <a:latin typeface="Calibri"/>
              </a:rPr>
              <a:t>Disabled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76072" y="6364224"/>
            <a:ext cx="5486400" cy="3657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6190488" y="6364224"/>
            <a:ext cx="5486400" cy="3657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40080" y="6409944"/>
            <a:ext cx="53949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0B1F3A"/>
                </a:solidFill>
                <a:latin typeface="Calibri"/>
              </a:rPr>
              <a:t>CloudTrail logging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6556248"/>
            <a:ext cx="53949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34495E"/>
                </a:solidFill>
                <a:latin typeface="Calibri"/>
              </a:rPr>
              <a:t>Multi-region 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54496" y="6409944"/>
            <a:ext cx="53949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0B1F3A"/>
                </a:solidFill>
                <a:latin typeface="Calibri"/>
              </a:rPr>
              <a:t>CloudTrail logging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54496" y="6556248"/>
            <a:ext cx="73152" cy="16459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373368" y="6556248"/>
            <a:ext cx="52578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DC2626"/>
                </a:solidFill>
                <a:latin typeface="Calibri"/>
              </a:rPr>
              <a:t>Trail stopped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11480" y="6537960"/>
            <a:ext cx="109728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7B8A9D"/>
                </a:solidFill>
                <a:latin typeface="Calibri"/>
              </a:rPr>
              <a:t>↑ Baseline Drift view — side-by-side compare with severity-tagged deltas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64592" cy="608076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14300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Reporting, Alerts &amp; Integrations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114300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>
                <a:solidFill>
                  <a:srgbClr val="CBD7E3"/>
                </a:solidFill>
                <a:latin typeface="Calibri"/>
              </a:rPr>
              <a:t>Right finding · right team · right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109728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7B8A9D"/>
                </a:solidFill>
                <a:latin typeface="Calibri"/>
              </a:rPr>
              <a:t>Multi-Cloud CSPM Platform  |  AWS • Azure • GCP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51560"/>
            <a:ext cx="3749039" cy="2651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051560"/>
            <a:ext cx="3749039" cy="457200"/>
          </a:xfrm>
          <a:prstGeom prst="rect">
            <a:avLst/>
          </a:prstGeom>
          <a:solidFill>
            <a:srgbClr val="13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124712"/>
            <a:ext cx="374903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Reporting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5204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Per-account / per-cloud / per-framework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65960"/>
            <a:ext cx="35204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Formats: PDF · HTML · CSV · 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31720"/>
            <a:ext cx="35204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Scheduled (cron) + on-demand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97480"/>
            <a:ext cx="35204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ReportSchedule + ReportRun audit trail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063240"/>
            <a:ext cx="35204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Posture history exported for board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051560"/>
            <a:ext cx="3749039" cy="2651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51960" y="1051560"/>
            <a:ext cx="3749039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51960" y="1124712"/>
            <a:ext cx="374903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Alerts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1600200"/>
            <a:ext cx="35204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Slack channel routing by severity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1965960"/>
            <a:ext cx="35204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Email digest or per-event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331720"/>
            <a:ext cx="35204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AlertLog — dedup + throttle aware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697480"/>
            <a:ext cx="35204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Freeze-window aware (no noise)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063240"/>
            <a:ext cx="35204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Quiet-hours configurable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1051560"/>
            <a:ext cx="3749039" cy="2651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92440" y="1051560"/>
            <a:ext cx="3749039" cy="45720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92440" y="1124712"/>
            <a:ext cx="374903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Integrations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1600200"/>
            <a:ext cx="35204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Jira / ServiceNow ticketing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1965960"/>
            <a:ext cx="35204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Splunk / DataDog / SIEM webhooks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331720"/>
            <a:ext cx="35204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Slack · Email · generic webhook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697480"/>
            <a:ext cx="35204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Per-finding routing rules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063240"/>
            <a:ext cx="352044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▸  IntegrationLog for audit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3840480"/>
            <a:ext cx="11430000" cy="2697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48056" y="3877056"/>
            <a:ext cx="11356848" cy="29260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21208" y="3950208"/>
            <a:ext cx="109728" cy="109728"/>
          </a:xfrm>
          <a:prstGeom prst="ellipse">
            <a:avLst/>
          </a:prstGeom>
          <a:solidFill>
            <a:srgbClr val="EF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85800" y="395020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50392" y="395020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1188720" y="3913632"/>
            <a:ext cx="10515600" cy="2194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280160" y="3931920"/>
            <a:ext cx="1033272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7B8A9D"/>
                </a:solidFill>
                <a:latin typeface="Calibri"/>
              </a:rPr>
              <a:t>cspm.local/reports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" y="4251960"/>
            <a:ext cx="3657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Findings — All Clouds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6072" y="4572000"/>
            <a:ext cx="640080" cy="22860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76072" y="4608576"/>
            <a:ext cx="64008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0">
                <a:solidFill>
                  <a:srgbClr val="34495E"/>
                </a:solidFill>
                <a:latin typeface="Calibri"/>
              </a:rPr>
              <a:t>AWS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89304" y="4572000"/>
            <a:ext cx="640080" cy="22860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289304" y="4608576"/>
            <a:ext cx="64008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0">
                <a:solidFill>
                  <a:srgbClr val="34495E"/>
                </a:solidFill>
                <a:latin typeface="Calibri"/>
              </a:rPr>
              <a:t>S3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002536" y="4572000"/>
            <a:ext cx="640080" cy="22860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002536" y="4608576"/>
            <a:ext cx="64008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0">
                <a:solidFill>
                  <a:srgbClr val="34495E"/>
                </a:solidFill>
                <a:latin typeface="Calibri"/>
              </a:rPr>
              <a:t>CRITICAL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15768" y="4572000"/>
            <a:ext cx="640080" cy="22860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715768" y="4608576"/>
            <a:ext cx="64008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0">
                <a:solidFill>
                  <a:srgbClr val="34495E"/>
                </a:solidFill>
                <a:latin typeface="Calibri"/>
              </a:rPr>
              <a:t>Last 7d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012680" y="4572000"/>
            <a:ext cx="502920" cy="22860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012680" y="4608576"/>
            <a:ext cx="50292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PDF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561320" y="4572000"/>
            <a:ext cx="502920" cy="228600"/>
          </a:xfrm>
          <a:prstGeom prst="roundRect">
            <a:avLst>
              <a:gd name="adj" fmla="val 10000"/>
            </a:avLst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561320" y="4608576"/>
            <a:ext cx="50292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CSV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109960" y="4572000"/>
            <a:ext cx="502920" cy="228600"/>
          </a:xfrm>
          <a:prstGeom prst="roundRect">
            <a:avLst>
              <a:gd name="adj" fmla="val 10000"/>
            </a:avLst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109960" y="4608576"/>
            <a:ext cx="50292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JSON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6072" y="4983480"/>
            <a:ext cx="11100816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0080" y="5038344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Calibri"/>
              </a:rPr>
              <a:t>Sev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80160" y="5038344"/>
            <a:ext cx="9144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Calibri"/>
              </a:rPr>
              <a:t>Service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94560" y="5038344"/>
            <a:ext cx="237744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Calibri"/>
              </a:rPr>
              <a:t>Title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0" y="5038344"/>
            <a:ext cx="164592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Calibri"/>
              </a:rPr>
              <a:t>Resource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17920" y="5038344"/>
            <a:ext cx="8229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76072" y="5276088"/>
            <a:ext cx="11100816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640080" y="5321808"/>
            <a:ext cx="548640" cy="164592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40080" y="5349240"/>
            <a:ext cx="548640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80160" y="5321808"/>
            <a:ext cx="8686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0B1F3A"/>
                </a:solidFill>
                <a:latin typeface="Calibri"/>
              </a:rPr>
              <a:t>S3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94560" y="5321808"/>
            <a:ext cx="237744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34495E"/>
                </a:solidFill>
                <a:latin typeface="Calibri"/>
              </a:rPr>
              <a:t>S3 Bucket Publicly Accessible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0" y="5321808"/>
            <a:ext cx="164592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7B8A9D"/>
                </a:solidFill>
                <a:latin typeface="Calibri"/>
              </a:rPr>
              <a:t>prod-data-logs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17920" y="5321808"/>
            <a:ext cx="8229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DC2626"/>
                </a:solidFill>
                <a:latin typeface="Calibri"/>
              </a:rPr>
              <a:t>● Open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76072" y="5550408"/>
            <a:ext cx="11100816" cy="25603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640080" y="5596128"/>
            <a:ext cx="548640" cy="164592"/>
          </a:xfrm>
          <a:prstGeom prst="roundRect">
            <a:avLst>
              <a:gd name="adj" fmla="val 1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40080" y="5623560"/>
            <a:ext cx="548640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80160" y="5596128"/>
            <a:ext cx="8686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0B1F3A"/>
                </a:solidFill>
                <a:latin typeface="Calibri"/>
              </a:rPr>
              <a:t>IAM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94560" y="5596128"/>
            <a:ext cx="237744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34495E"/>
                </a:solidFill>
                <a:latin typeface="Calibri"/>
              </a:rPr>
              <a:t>User Has Access Key Older Than 90d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0" y="5596128"/>
            <a:ext cx="164592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7B8A9D"/>
                </a:solidFill>
                <a:latin typeface="Calibri"/>
              </a:rPr>
              <a:t>iam::deploy-bot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17920" y="5596128"/>
            <a:ext cx="8229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E67E22"/>
                </a:solidFill>
                <a:latin typeface="Calibri"/>
              </a:rPr>
              <a:t>● In-Progress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76072" y="5824728"/>
            <a:ext cx="11100816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640080" y="5870448"/>
            <a:ext cx="548640" cy="164592"/>
          </a:xfrm>
          <a:prstGeom prst="roundRect">
            <a:avLst>
              <a:gd name="adj" fmla="val 1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40080" y="5897880"/>
            <a:ext cx="548640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80160" y="5870448"/>
            <a:ext cx="8686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0B1F3A"/>
                </a:solidFill>
                <a:latin typeface="Calibri"/>
              </a:rPr>
              <a:t>RDS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94560" y="5870448"/>
            <a:ext cx="237744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34495E"/>
                </a:solidFill>
                <a:latin typeface="Calibri"/>
              </a:rPr>
              <a:t>RDS Instance Not Encrypted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72000" y="5870448"/>
            <a:ext cx="164592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7B8A9D"/>
                </a:solidFill>
                <a:latin typeface="Calibri"/>
              </a:rPr>
              <a:t>rds::orders-db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17920" y="5870448"/>
            <a:ext cx="8229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DC2626"/>
                </a:solidFill>
                <a:latin typeface="Calibri"/>
              </a:rPr>
              <a:t>● Open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76072" y="6099048"/>
            <a:ext cx="11100816" cy="25603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640080" y="6144768"/>
            <a:ext cx="548640" cy="164592"/>
          </a:xfrm>
          <a:prstGeom prst="roundRect">
            <a:avLst>
              <a:gd name="adj" fmla="val 1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40080" y="6172200"/>
            <a:ext cx="548640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80160" y="6144768"/>
            <a:ext cx="8686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0B1F3A"/>
                </a:solidFill>
                <a:latin typeface="Calibri"/>
              </a:rPr>
              <a:t>ECR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94560" y="6144768"/>
            <a:ext cx="237744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34495E"/>
                </a:solidFill>
                <a:latin typeface="Calibri"/>
              </a:rPr>
              <a:t>Image CVE: CVE-2024-21626 (HIGH)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72000" y="6144768"/>
            <a:ext cx="164592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7B8A9D"/>
                </a:solidFill>
                <a:latin typeface="Calibri"/>
              </a:rPr>
              <a:t>ecr::api-service:v3.2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17920" y="6144768"/>
            <a:ext cx="8229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DC2626"/>
                </a:solidFill>
                <a:latin typeface="Calibri"/>
              </a:rPr>
              <a:t>● Open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76072" y="6373368"/>
            <a:ext cx="11100816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640080" y="6419088"/>
            <a:ext cx="548640" cy="164592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40080" y="6446520"/>
            <a:ext cx="548640" cy="137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280160" y="6419088"/>
            <a:ext cx="8686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0B1F3A"/>
                </a:solidFill>
                <a:latin typeface="Calibri"/>
              </a:rPr>
              <a:t>VPC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194560" y="6419088"/>
            <a:ext cx="237744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34495E"/>
                </a:solidFill>
                <a:latin typeface="Calibri"/>
              </a:rPr>
              <a:t>Flow Logs Disabled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2000" y="6419088"/>
            <a:ext cx="164592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7B8A9D"/>
                </a:solidFill>
                <a:latin typeface="Calibri"/>
              </a:rPr>
              <a:t>vpc-0a1b2c3d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17920" y="6419088"/>
            <a:ext cx="8229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700" b="1">
                <a:solidFill>
                  <a:srgbClr val="27AE60"/>
                </a:solidFill>
                <a:latin typeface="Calibri"/>
              </a:rPr>
              <a:t>● Fixed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11480" y="6537960"/>
            <a:ext cx="109728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7B8A9D"/>
                </a:solidFill>
                <a:latin typeface="Calibri"/>
              </a:rPr>
              <a:t>↑ Findings/Reports view — filters, severity-aware rows, PDF/CSV/JSON export, inline status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1154</Words>
  <Application>Microsoft Office PowerPoint</Application>
  <PresentationFormat>Widescreen</PresentationFormat>
  <Paragraphs>271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Panchal, Nitin</cp:lastModifiedBy>
  <cp:revision>3</cp:revision>
  <dcterms:created xsi:type="dcterms:W3CDTF">2013-01-27T09:14:16Z</dcterms:created>
  <dcterms:modified xsi:type="dcterms:W3CDTF">2026-05-13T06:40:49Z</dcterms:modified>
  <cp:category/>
</cp:coreProperties>
</file>